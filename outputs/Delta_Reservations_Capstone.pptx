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answer: staffing each half-hour to the forecast saves about $845K over 30 days versus fixed 8-hour shifts, while 87.8% of calls are still answered within 20 seconds — and a simulation independently confirms the staffing math. All data is synthetic; real contact logs are confidential.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ATL is Delta's largest hub. Contact volume follows weekly and seasonal rhythms, but weather disruptions (IROPs) spike it far above a normal day. Staffing flat either leaves customers waiting when volume spikes or pays idle agents when it's quiet — the plan has to follow demand half-hour by half-hour.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answer. Compared with a center running fixed 8-hour shifts, each staffed to its busiest half-hour, interval-level Erlang C staffing cuts agent-hours by 43% — $845,238 over 30 days at $25/hour — while 87.8% of calls are answered within 20 seconds. Against naive peak staffing 24/7 the saving would be 69% ($2,418,238), but no real center runs that way, so the realistic comparison is the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steps. (1) Forecast daily volume and split it into half-hours. (2) Erlang C — the queueing formula real contact centers use — turns volume and handle time into the minimum agents for 80/20, then shrinkage grosses that up to scheduled headcount. (3) A simulation imitates calls and agents one event at a time and measures service level independently. (4) Convert the curve to agent-hours and dollars against two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independent checks. The forecast is scored on a held-out month: 9.7% average error on normal days, under the 10% target; the all-days figure (16.2%) includes Christmas, which one year of history can't teach. The simulation imitates the queue call by call; across 4 load levels its service level lands within 0.4 points of the Erlang C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a disruption day, volume runs about 2.5× normal and rebooking calls run longer (about 337 s). Peak scheduled agents go from 150 to 461. You can't hire for that on the day, so the recommendation is a pre-positioned flex pool plus pushing simple contacts to the app — the deflection figure is a volume-only upper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the savings and service figures above. Next steps: pilot the schedule at ATL against a control group; turn the half-hour requirement curve into real rosters (out of scope here); add other channels and intraday re-forecasting; and plug in real contact data — the pipeline doesn't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business assumption lives in config.py — change one number and re-run the pipeline and this deck. The data is synthetic by design. The main caveat is the January forecast level, which one year of history can't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public.tableau.com/app/profile/frank.an5089/viz/DeltaATLReservationsStaffingOptimizer/Dashboard" TargetMode="Externa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C9D3E6"/>
                </a:solidFill>
                <a:latin typeface="Arial"/>
              </a:rPr>
              <a:t>DELTA RESERVATIONS  · 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Optimizing ATL Reservations Staffing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for Service &amp;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C9D3E6"/>
                </a:solidFill>
                <a:latin typeface="Arial"/>
              </a:rPr>
              <a:t>A forecast-driven, simulation-validated staffing plan for Delta's largest 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77639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11480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$845K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saved in 30 days vs fixed 8-hour shifts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977639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59" y="411480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87.8%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4754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of calls answered within 20 s (target 80%)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977639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2A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4114800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0.4 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75488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largest gap between simulation and the Erlang C 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C9D3E6"/>
                </a:solidFill>
                <a:latin typeface="Arial"/>
              </a:rPr>
              <a:t>Frank An  ·  Synthetic data — a student project, not official Delta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Demand swings hard — flat staffing either strands customers or pays for idle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4206240" cy="187451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11680"/>
            <a:ext cx="3657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Arial"/>
              </a:rPr>
              <a:t>Understaffed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468880"/>
            <a:ext cx="3657599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Arial"/>
              </a:rPr>
              <a:t>Long holds and abandoned calls — worst during weather disruptions, exactly when customers need Delta most.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4206240" cy="187451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160520"/>
            <a:ext cx="365759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Arial"/>
              </a:rPr>
              <a:t>Overstaffed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617720"/>
            <a:ext cx="3657599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Arial"/>
              </a:rPr>
              <a:t>Paying agents to sit idle. Sizing every hour to the daily peak wastes most of the day's paid time.</a:t>
            </a:r>
          </a:p>
        </p:txBody>
      </p:sp>
      <p:pic>
        <p:nvPicPr>
          <p:cNvPr id="9" name="Picture 8" descr="volum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783080"/>
            <a:ext cx="6522415" cy="23294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064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11,561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Arial"/>
              </a:rPr>
              <a:t>contacts on a typical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42,997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Arial"/>
              </a:rPr>
              <a:t>on the busiest day of the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425196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2800" b="1" i="0">
                <a:solidFill>
                  <a:srgbClr val="1B2A4A"/>
                </a:solidFill>
                <a:latin typeface="Arial"/>
              </a:rPr>
              <a:t>3.7×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800600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Arial"/>
              </a:rPr>
              <a:t>busiest vs typical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577840"/>
            <a:ext cx="6522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Arial"/>
              </a:rPr>
              <a:t>Daily contacts, 2025 (synthetic). Red dots = IROP (irregular operations) days; gold diamonds = holiday-travel peaks.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Recommendation: staff each half-hour to the forecast — save $845K in 30 days and still beat the service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9164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800" b="1" i="0">
                <a:solidFill>
                  <a:srgbClr val="C8102E"/>
                </a:solidFill>
                <a:latin typeface="Arial"/>
              </a:rPr>
              <a:t>$845,238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Arial"/>
              </a:rPr>
              <a:t>saved over 30 days vs fixed 8-hour shifts (43% fewer agent-hours)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1546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1B2A4A"/>
                </a:solidFill>
                <a:latin typeface="Arial"/>
              </a:rPr>
              <a:t>87.8%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Arial"/>
              </a:rPr>
              <a:t>of calls answered within 20 s — target 80%, met in every half-hour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1B2A4A"/>
                </a:solidFill>
                <a:latin typeface="Arial"/>
              </a:rPr>
              <a:t>7.9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1B2A4A"/>
                </a:solidFill>
                <a:latin typeface="Arial"/>
              </a:rPr>
              <a:t>average wait to answer; agents 87% busy (cap 90%)</a:t>
            </a:r>
          </a:p>
        </p:txBody>
      </p:sp>
      <p:pic>
        <p:nvPicPr>
          <p:cNvPr id="9" name="Picture 8" descr="sav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691640"/>
            <a:ext cx="6769303" cy="39190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73752" y="5747870"/>
            <a:ext cx="676930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B6475"/>
                </a:solidFill>
                <a:latin typeface="Arial"/>
              </a:rPr>
              <a:t>Same forecast, four ways to staff it. Naive = peak headcount (196 agents) around the clock; 8h shifts = each shift staffed to its busiest half-hour.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How: four steps, each checked before the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783080"/>
            <a:ext cx="2496312" cy="374903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" y="20574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88920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"/>
              </a:rPr>
              <a:t>Forecast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46120"/>
            <a:ext cx="20391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Prophet learns weekly and holiday patterns from a year of contacts; an intraday profile splits each day into 48 half-hours.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2039112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Arial"/>
              </a:rPr>
              <a:t>9.7% error on normal days</a:t>
            </a:r>
          </a:p>
        </p:txBody>
      </p:sp>
      <p:sp>
        <p:nvSpPr>
          <p:cNvPr id="8" name="Chevron 7"/>
          <p:cNvSpPr/>
          <p:nvPr/>
        </p:nvSpPr>
        <p:spPr>
          <a:xfrm>
            <a:off x="3136392" y="2194560"/>
            <a:ext cx="182880" cy="27432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10712" y="1783080"/>
            <a:ext cx="2496312" cy="374903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39312" y="20574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788920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"/>
              </a:rPr>
              <a:t>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46120"/>
            <a:ext cx="20391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Erlang C, the standard call-center formula, finds the fewest agents that answer 80% of calls in 20 s; +30% covers breaks and 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4846320"/>
            <a:ext cx="2039112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Arial"/>
              </a:rPr>
              <a:t>5 Erlangs → 8 agents → 12 scheduled</a:t>
            </a:r>
          </a:p>
        </p:txBody>
      </p:sp>
      <p:sp>
        <p:nvSpPr>
          <p:cNvPr id="14" name="Chevron 13"/>
          <p:cNvSpPr/>
          <p:nvPr/>
        </p:nvSpPr>
        <p:spPr>
          <a:xfrm>
            <a:off x="5998464" y="2194560"/>
            <a:ext cx="182880" cy="27432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72783" y="1783080"/>
            <a:ext cx="2496312" cy="374903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01383" y="20574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3" y="2788920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"/>
              </a:rPr>
              <a:t>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3" y="3246120"/>
            <a:ext cx="20391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A discrete-event simulation replays hundreds of thousands of calls and measures the waits directly — no formula involved.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3" y="4846320"/>
            <a:ext cx="2039112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Arial"/>
              </a:rPr>
              <a:t>within 0.4 pts of Erlang C</a:t>
            </a:r>
          </a:p>
        </p:txBody>
      </p:sp>
      <p:sp>
        <p:nvSpPr>
          <p:cNvPr id="20" name="Chevron 19"/>
          <p:cNvSpPr/>
          <p:nvPr/>
        </p:nvSpPr>
        <p:spPr>
          <a:xfrm>
            <a:off x="8860536" y="2194560"/>
            <a:ext cx="182880" cy="274320"/>
          </a:xfrm>
          <a:prstGeom prst="chevron">
            <a:avLst/>
          </a:prstGeom>
          <a:solidFill>
            <a:srgbClr val="C9D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34856" y="1783080"/>
            <a:ext cx="2496312" cy="3749039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63456" y="2057400"/>
            <a:ext cx="548640" cy="5486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2788920"/>
            <a:ext cx="20391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B2A4A"/>
                </a:solidFill>
                <a:latin typeface="Arial"/>
              </a:rPr>
              <a:t>Optimize &amp;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3246120"/>
            <a:ext cx="2039112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Agent-hours × $25/h versus naive and fixed-shift baselines, plus IROP and self-service scenarios.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6" y="4846320"/>
            <a:ext cx="2039112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500" b="1" i="0">
                <a:solidFill>
                  <a:srgbClr val="C8102E"/>
                </a:solidFill>
                <a:latin typeface="Arial"/>
              </a:rPr>
              <a:t>−43% vs 8-hour shifts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5B6475"/>
                </a:solidFill>
                <a:latin typeface="Arial"/>
              </a:rPr>
              <a:t>Validated two independent ways: the forecast is scored on held-out data, and the staffing math is confirmed by simulation.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Evidence: the forecast tracks reality, and simulation confirms the staffing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B2A4A"/>
                </a:solidFill>
                <a:latin typeface="Arial"/>
              </a:rPr>
              <a:t>9.7%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1645920"/>
            <a:ext cx="41605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average error on normal days (held-out December; target under 10%)</a:t>
            </a:r>
          </a:p>
        </p:txBody>
      </p:sp>
      <p:pic>
        <p:nvPicPr>
          <p:cNvPr id="5" name="Picture 4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5989320" cy="21390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03720" y="1645920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B2A4A"/>
                </a:solidFill>
                <a:latin typeface="Arial"/>
              </a:rPr>
              <a:t>0.4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1645920"/>
            <a:ext cx="291053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largest service-level gap vs Erlang C across 4 load levels (tolerance 3 pts)</a:t>
            </a:r>
          </a:p>
        </p:txBody>
      </p:sp>
      <p:pic>
        <p:nvPicPr>
          <p:cNvPr id="8" name="Picture 7" descr="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2514600"/>
            <a:ext cx="4739335" cy="26329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349240"/>
            <a:ext cx="5989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5"/>
                </a:solidFill>
                <a:latin typeface="Arial"/>
              </a:rPr>
              <a:t>All test days: 16.2% — the Christmas spike can't be learned from one year of history. Weather (IROP) days are left out of training and handled as a stress scenario instead.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5349240"/>
            <a:ext cx="473933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5"/>
                </a:solidFill>
                <a:latin typeface="Arial"/>
              </a:rPr>
              <a:t>SimPy M/M/c simulation: 8 replications × 50,000 calls per load level, compared with the Erlang C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Disruption days need ~3× the agents — plan flex capacity before the storm</a:t>
            </a:r>
          </a:p>
        </p:txBody>
      </p:sp>
      <p:pic>
        <p:nvPicPr>
          <p:cNvPr id="3" name="Picture 2" descr="staff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675120" cy="2567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487593"/>
            <a:ext cx="6675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B6475"/>
                </a:solidFill>
                <a:latin typeface="Arial"/>
              </a:rPr>
              <a:t>Average forecast day (navy) vs an IROP day at 2.5× volume with longer rebooking calls (gold). Dashed red = naive flat staffing.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1691640"/>
            <a:ext cx="4053535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C8102E"/>
                </a:solidFill>
                <a:latin typeface="Arial"/>
              </a:rPr>
              <a:t>150 → 461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2423160"/>
            <a:ext cx="40535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scheduled agents at the afternoon peak; IROP-day agent-hours ×3.0</a:t>
            </a:r>
          </a:p>
        </p:txBody>
      </p:sp>
      <p:sp>
        <p:nvSpPr>
          <p:cNvPr id="7" name="Oval 6"/>
          <p:cNvSpPr/>
          <p:nvPr/>
        </p:nvSpPr>
        <p:spPr>
          <a:xfrm>
            <a:off x="7589520" y="338328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80" y="3429000"/>
            <a:ext cx="3459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Arial"/>
              </a:rPr>
              <a:t>Flex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3813048"/>
            <a:ext cx="34591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An on-call pool of cross-trained agents, activated when a weather disruption is forecast.</a:t>
            </a:r>
          </a:p>
        </p:txBody>
      </p:sp>
      <p:sp>
        <p:nvSpPr>
          <p:cNvPr id="10" name="Oval 9"/>
          <p:cNvSpPr/>
          <p:nvPr/>
        </p:nvSpPr>
        <p:spPr>
          <a:xfrm>
            <a:off x="7589520" y="4709160"/>
            <a:ext cx="457200" cy="45720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4754880"/>
            <a:ext cx="34591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Arial"/>
              </a:rPr>
              <a:t>Self-service deflection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5138928"/>
            <a:ext cx="345917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Arial"/>
              </a:rPr>
              <a:t>Move 20% of app-friendly contacts (bookings, seats, SkyMiles) to the Fly Delta app: −11% volume, ~$116K per 30 days.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Impact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$845K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per 30 days vs fixed 8-hour shifts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+$116K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more with Fly Delta app deflection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4480560" cy="6858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80/20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C9D3E6"/>
                </a:solidFill>
                <a:latin typeface="Arial"/>
              </a:rPr>
              <a:t>service target met in every half-hour of 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91640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"/>
              </a:rPr>
              <a:t>Next steps</a:t>
            </a:r>
          </a:p>
        </p:txBody>
      </p:sp>
      <p:sp>
        <p:nvSpPr>
          <p:cNvPr id="10" name="Oval 9"/>
          <p:cNvSpPr/>
          <p:nvPr/>
        </p:nvSpPr>
        <p:spPr>
          <a:xfrm>
            <a:off x="5760720" y="228600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26771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Pilot at ATL: run interval-based schedules for one month against a control group.</a:t>
            </a:r>
          </a:p>
        </p:txBody>
      </p:sp>
      <p:sp>
        <p:nvSpPr>
          <p:cNvPr id="12" name="Oval 11"/>
          <p:cNvSpPr/>
          <p:nvPr/>
        </p:nvSpPr>
        <p:spPr>
          <a:xfrm>
            <a:off x="5760720" y="315468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13639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Turn half-hour requirements into real shift rosters (shift lengths, breaks, labor rules).</a:t>
            </a:r>
          </a:p>
        </p:txBody>
      </p:sp>
      <p:sp>
        <p:nvSpPr>
          <p:cNvPr id="14" name="Oval 13"/>
          <p:cNvSpPr/>
          <p:nvPr/>
        </p:nvSpPr>
        <p:spPr>
          <a:xfrm>
            <a:off x="5760720" y="402336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00507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Extend to chat and app channels, with intraday re-forecasting.</a:t>
            </a:r>
          </a:p>
        </p:txBody>
      </p:sp>
      <p:sp>
        <p:nvSpPr>
          <p:cNvPr id="16" name="Oval 15"/>
          <p:cNvSpPr/>
          <p:nvPr/>
        </p:nvSpPr>
        <p:spPr>
          <a:xfrm>
            <a:off x="5760720" y="4892040"/>
            <a:ext cx="411480" cy="41148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873752"/>
            <a:ext cx="5257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Swap in real contact logs — the pipeline and its tests run unchanged.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9D3E6"/>
                </a:solidFill>
                <a:latin typeface="Arial"/>
              </a:rPr>
              <a:t>Interactive dashboard: </a:t>
            </a:r>
            <a:r>
              <a:rPr sz="1300" b="0" i="0">
                <a:solidFill>
                  <a:srgbClr val="FFFFFF"/>
                </a:solidFill>
                <a:latin typeface="Arial"/>
                <a:hlinkClick r:id="rId2"/>
              </a:rPr>
              <a:t>https://public.tableau.com/app/profile/frank.an5089/viz/DeltaATLReservationsStaffingOptimizer/Dashboard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Arial"/>
              </a:rPr>
              <a:t>Appendix: assumptions and data notes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691640"/>
          <a:ext cx="60350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93192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Assumption</a:t>
                      </a:r>
                    </a:p>
                  </a:txBody>
                  <a:tcPr marL="109728" marR="109728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Value (config.py)</a:t>
                      </a:r>
                    </a:p>
                  </a:txBody>
                  <a:tcPr marL="109728" marR="109728" anchor="ctr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Service target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80% of calls answered within 20 s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Max occupancy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90%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Shrinkage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30% of paid time (breaks, training, meetings)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Loaded agent cost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$25 per hour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Interval / horizon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30 min · 30 days (Jan 1–Jan 30, 2026)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Realistic baseline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8h shifts, each staffed to its busiest half-hour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IROP scenario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2.5× volume, 337 s average handle time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Self-service deflection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20% of Booking Change, Seat Upgrade, SkyMiles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1B2A4A"/>
                          </a:solidFill>
                          <a:latin typeface="Arial"/>
                        </a:rPr>
                        <a:t>Data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B2A4A"/>
                          </a:solidFill>
                          <a:latin typeface="Arial"/>
                        </a:rPr>
                        <a:t>4.7M synthetic contacts (2025), seeded</a:t>
                      </a:r>
                    </a:p>
                  </a:txBody>
                  <a:tcPr marL="109728" marR="109728" anchor="ctr">
                    <a:solidFill>
                      <a:srgbClr val="F1F3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949440" y="1691640"/>
            <a:ext cx="4693615" cy="19202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59" y="1920240"/>
            <a:ext cx="4144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B2A4A"/>
                </a:solidFill>
                <a:latin typeface="Arial"/>
              </a:rPr>
              <a:t>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59" y="2377440"/>
            <a:ext cx="414497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Arial"/>
              </a:rPr>
              <a:t>Real Delta contact logs are confidential, so every contact is generated from documented assumptions. The method — not the dataset — is the deliverable; real data plugs into the same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840480"/>
            <a:ext cx="4693615" cy="192024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59" y="4069080"/>
            <a:ext cx="4144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C8102E"/>
                </a:solidFill>
                <a:latin typeface="Arial"/>
              </a:rPr>
              <a:t>Known caveat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59" y="4526280"/>
            <a:ext cx="414497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B2A4A"/>
                </a:solidFill>
                <a:latin typeface="Arial"/>
              </a:rPr>
              <a:t>The January forecast averages 11,785 contacts/day, 18% above last January's 9,974: one year of history can't teach the model January's seasonal dip. Absolute dollars are likely overstated; the percentage savings are more robust.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B6475"/>
                </a:solidFill>
                <a:latin typeface="Arial"/>
              </a:rPr>
              <a:t>Delta ATL Reservations capstone  ·  synthetic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B647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9D3E6"/>
      </a:hlink>
      <a:folHlink>
        <a:srgbClr val="C9D3E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